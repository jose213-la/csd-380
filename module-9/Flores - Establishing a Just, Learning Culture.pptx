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68" r:id="rId3"/>
    <p:sldId id="269" r:id="rId4"/>
    <p:sldId id="270" r:id="rId5"/>
    <p:sldId id="272" r:id="rId6"/>
    <p:sldId id="273" r:id="rId7"/>
    <p:sldId id="274" r:id="rId8"/>
    <p:sldId id="280" r:id="rId9"/>
    <p:sldId id="275" r:id="rId10"/>
    <p:sldId id="276" r:id="rId11"/>
    <p:sldId id="27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72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0666DC1-CD27-4874-9484-9D06C59FE4D0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7579F-F417-47C2-AC03-911CCED02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2" y="447675"/>
            <a:ext cx="8397511" cy="2714625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3E600-28DA-4780-9E00-2E12F74FF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602037"/>
            <a:ext cx="8397511" cy="2460625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6F1DC-ADFB-42C9-AB34-FCB38C81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8219-6E45-4D12-B767-46F92D5844D4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99E6D-BBA8-4A15-94DA-DBE8A4FD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03C82-8719-4FAC-94BF-2A91335F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469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CF16-986E-4D90-AA40-CDB46E23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F14DA-A783-43BC-8F15-95408B89D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C48B6-C394-452A-94D9-D4802755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96A2-D8F0-4E17-BFD0-A6C902250D59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58A8A-3DD0-41C8-9F48-F4309FA1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06C92-7C02-4D34-B3E5-D549A7A3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354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66F9FA-E6B8-4CFC-B3F1-0C075546EE33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6F270-B2AA-4935-885F-5924B1F63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10862898" cy="272415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2658E-3D87-4D5A-A602-847153CC4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3695701"/>
            <a:ext cx="10862898" cy="23939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B1D84-A229-45B1-BD42-0DC0CE9F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8C9C-1ACB-4C84-A002-C7E0E45B937A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4EEF4-D461-49D7-8F24-8BFE2444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4055A-7488-4646-9E88-692036EA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092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1F74-ED26-4F8B-BF51-3533D8404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60"/>
            <a:ext cx="11264536" cy="16875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1D2D7-7F18-43E0-9B2E-3FCD83CC8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55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BBB66-EB7D-4F8C-9C78-1D1C88846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016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684E6-393D-4587-AA45-E6734FB47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F2A5-B297-4977-9E5B-4D3050E23689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D8EE0-0333-4ABC-AE18-10DD507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52369-A8F0-4709-8372-B420A67DB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415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1592-4621-4D72-BC2D-F2C439F8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59"/>
            <a:ext cx="10870836" cy="1691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823F5-0A90-4666-BE88-2BE0D0A61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436473"/>
            <a:ext cx="5332026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C6A7C-6260-463D-B3FD-71A07ACD0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552" y="3409051"/>
            <a:ext cx="5332026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2AF8D-90ED-4512-9423-C91BF73A9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0162" y="2436473"/>
            <a:ext cx="5358285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838EA-E20D-4CC3-83C2-AFE0DE9F7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162" y="3409051"/>
            <a:ext cx="5358285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03F8A-08E1-4160-9B7E-E0CA4BF8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27434-4794-409A-9547-04789BA47588}" type="datetime1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291AB-3C5C-4BE1-9E50-02F48933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96E64-CD6C-4CF7-8624-FA4AE976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600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562B3-06A0-4F2F-96EC-A062DAE2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C0095-49F0-4A83-AE8C-9D13E15C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58635-357A-4E3D-B824-A5CEFDB8449C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24898-D4EA-497A-8FC8-43E0D021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821F6-2C08-450C-A18C-702D738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015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FFE119-5FCA-4D9C-9C07-1B81A0BF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FF77-2719-4AD0-8740-0B90FF5D1EFB}" type="datetime1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2C5995-6284-4D7F-AB1C-CA8FE63A7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E4B0D-9C21-48D0-9438-C4737068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163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0AF76DA-8F95-47D9-9EB6-B1EC93437387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1355B14-077B-4BA1-962D-6E97D93FFCCC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230B99F-AC6F-4973-A35E-16C87C38711D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41614-9483-47F8-A429-FB0D1C5AA89A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5E91C-3C4F-40A2-BCC6-918D3BED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87234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0F113-1C61-4F74-BD5B-727668BB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EB228-A180-4DF6-9D5B-2CF86B6B9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87234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13719-D65D-4BAE-97B7-FAE8F399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1C83-1089-48B9-8B65-293D4C236D35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7F5BB-DC3C-45D1-A0D2-05168FEC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44BA3-19DB-4072-9A2C-08C92361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102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0A6909D-DC0B-4221-8140-21E981D896AF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D581C2-F39E-4958-A3F3-BB65AB1C5E66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D77040-27EF-4D2C-8D34-32337B0C8544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A26D20-69F8-4BBC-98C0-BEB470AB8284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7B6BC-4B2A-4001-9634-47473F82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11519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7D074-2CCB-4AB8-A7A0-7847D3C1E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B94BD-D906-4213-9F31-1BE17A86F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11519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B8431-70CB-4E9F-8A49-CDFF1855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2FE45-CC1E-47DB-8B82-6CF0636FBDB8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2F293-170E-410E-88BF-187A63C5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D93A2-588D-43B5-B6FA-0B7892E6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454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8A33-CB96-4CB1-9941-753BD0824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EB269-70DF-4510-A313-336226558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EA3CC-B2DC-4E87-826C-B885A7E6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30B8-6059-41E5-A5DC-C07A76F5859A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37F52-A7C4-4E21-A12A-02546D47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6031F-5A79-48A7-8EDC-DDD9A9E4B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20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188483-96C4-4E9C-AA6A-E70005461AEE}"/>
              </a:ext>
            </a:extLst>
          </p:cNvPr>
          <p:cNvSpPr/>
          <p:nvPr/>
        </p:nvSpPr>
        <p:spPr>
          <a:xfrm>
            <a:off x="9144000" y="0"/>
            <a:ext cx="3048000" cy="6854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FCD54-7F0B-446E-9998-93E7BD7CE7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534222" y="365125"/>
            <a:ext cx="223867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66238-BBF1-4672-BC09-746C6967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552" y="365125"/>
            <a:ext cx="837406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32A5-B67B-45C1-B454-12E9FBE0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0CB7-D16E-4358-B7F4-EA4A24554592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1896-9441-4636-89D5-84E5932A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811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37DFE-7F48-4EB0-83BC-A93F342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309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26A151-13BF-4305-A6DC-9DC7C9877195}"/>
              </a:ext>
            </a:extLst>
          </p:cNvPr>
          <p:cNvSpPr/>
          <p:nvPr/>
        </p:nvSpPr>
        <p:spPr>
          <a:xfrm>
            <a:off x="0" y="0"/>
            <a:ext cx="12192000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E6AE3-3BCC-4B3B-AC4E-60F91014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514A-E7EA-41A8-ADBA-85CA1DF6D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576513"/>
            <a:ext cx="10869248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CB0BD-D6E3-4B3D-BCBB-6FECA5D63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6221" y="635720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C8E16-3C03-4238-9C6F-B34F3D10F77E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147F7-B466-4892-BE27-876F94751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7016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4FE0-65CC-4435-A6AF-150E52F35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4983" y="6356350"/>
            <a:ext cx="12807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630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frontiersin.org/journals/health-services/articles/10.3389/frhs.2025.1581516/full" TargetMode="External"/><Relationship Id="rId4" Type="http://schemas.openxmlformats.org/officeDocument/2006/relationships/hyperlink" Target="https://justculture.hqa.ca/overcoming-barriers-to-a-just-cultur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D90D76C-184F-4A96-8FE8-1114F8EE1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9DE355-E8A7-498B-A6A0-54D03B953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3644" cy="68613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ADC884-65B6-7D7D-15EE-FF93123855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2" y="1122363"/>
            <a:ext cx="4910841" cy="2387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800" b="1"/>
              <a:t>Building a Just, Learning Culture</a:t>
            </a:r>
            <a:br>
              <a:rPr lang="en-US" sz="3800"/>
            </a:br>
            <a:r>
              <a:rPr lang="en-US" sz="3800" b="1"/>
              <a:t>Barriers and Challenges</a:t>
            </a:r>
            <a:endParaRPr lang="en-US" sz="38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13E8B7-968D-12A4-539B-FB0E6C840D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602038"/>
            <a:ext cx="4910841" cy="1655762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Jose Flores</a:t>
            </a:r>
          </a:p>
          <a:p>
            <a:r>
              <a:rPr lang="en-US">
                <a:solidFill>
                  <a:schemeClr val="bg1"/>
                </a:solidFill>
              </a:rPr>
              <a:t>12/6/2025</a:t>
            </a:r>
          </a:p>
          <a:p>
            <a:r>
              <a:rPr lang="en-US">
                <a:solidFill>
                  <a:schemeClr val="bg1"/>
                </a:solidFill>
              </a:rPr>
              <a:t>Assignment: M-9.2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F89EDC-575D-6E96-709E-E2880023B8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10003"/>
          <a:stretch>
            <a:fillRect/>
          </a:stretch>
        </p:blipFill>
        <p:spPr>
          <a:xfrm>
            <a:off x="6083645" y="10"/>
            <a:ext cx="6108356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689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279CB98-976B-40EA-81C0-E41C11E7A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10FC428-98F2-41B0-859F-EC3A5A41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547CFA-0EAD-25F7-F57D-AA9932C4D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3" y="365125"/>
            <a:ext cx="5288718" cy="266382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What Is a Just Culture?</a:t>
            </a:r>
          </a:p>
        </p:txBody>
      </p:sp>
      <p:pic>
        <p:nvPicPr>
          <p:cNvPr id="8" name="Graphic 7" descr="Person with Idea">
            <a:extLst>
              <a:ext uri="{FF2B5EF4-FFF2-40B4-BE49-F238E27FC236}">
                <a16:creationId xmlns:a16="http://schemas.microsoft.com/office/drawing/2014/main" id="{38C7BB5D-21D3-9B80-9645-6F47161B8A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6314" y="3694814"/>
            <a:ext cx="2661535" cy="2661535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29B66AAD-E2D6-4E63-A491-B5CA241C5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2" y="0"/>
            <a:ext cx="6095998" cy="6858000"/>
            <a:chOff x="6096002" y="-9073"/>
            <a:chExt cx="6095998" cy="6867073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B608A2F-0FE5-4AD3-A12C-CEFA95192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971BD8E-CD34-4B44-B62F-AE81B7FF32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Rectangle 2">
            <a:extLst>
              <a:ext uri="{FF2B5EF4-FFF2-40B4-BE49-F238E27FC236}">
                <a16:creationId xmlns:a16="http://schemas.microsoft.com/office/drawing/2014/main" id="{AEDEB897-F282-7E86-230B-7E407D9176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10671" y="649432"/>
            <a:ext cx="5301307" cy="55275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 just culture is a workplace where mistakes are used to learn, not to punish.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It’s about asking: </a:t>
            </a:r>
            <a:r>
              <a:rPr kumimoji="0" lang="en-US" altLang="en-US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“What went wrong, and how can we fix it?”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instead of </a:t>
            </a:r>
            <a:r>
              <a:rPr kumimoji="0" lang="en-US" altLang="en-US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“Who messed up?”</a:t>
            </a:r>
            <a:endParaRPr kumimoji="0" lang="en-US" altLang="en-US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It builds trust, encourages people to speak up, and helps the organization improve safety.</a:t>
            </a:r>
          </a:p>
        </p:txBody>
      </p:sp>
    </p:spTree>
    <p:extLst>
      <p:ext uri="{BB962C8B-B14F-4D97-AF65-F5344CB8AC3E}">
        <p14:creationId xmlns:p14="http://schemas.microsoft.com/office/powerpoint/2010/main" val="188223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279CB98-976B-40EA-81C0-E41C11E7A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10FC428-98F2-41B0-859F-EC3A5A41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E342B4-915B-D6D0-233D-D6F85D00B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3" y="365125"/>
            <a:ext cx="5288718" cy="266382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Challenge 1: Fear of Blame</a:t>
            </a:r>
          </a:p>
        </p:txBody>
      </p:sp>
      <p:pic>
        <p:nvPicPr>
          <p:cNvPr id="8" name="Graphic 7" descr="Worried Face with Solid Fill">
            <a:extLst>
              <a:ext uri="{FF2B5EF4-FFF2-40B4-BE49-F238E27FC236}">
                <a16:creationId xmlns:a16="http://schemas.microsoft.com/office/drawing/2014/main" id="{63C65205-D20D-2C64-EDDF-50F91D0E1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6314" y="3694814"/>
            <a:ext cx="2661535" cy="2661535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29B66AAD-E2D6-4E63-A491-B5CA241C5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2" y="0"/>
            <a:ext cx="6095998" cy="6858000"/>
            <a:chOff x="6096002" y="-9073"/>
            <a:chExt cx="6095998" cy="6867073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B608A2F-0FE5-4AD3-A12C-CEFA95192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971BD8E-CD34-4B44-B62F-AE81B7FF32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Rectangle 3">
            <a:extLst>
              <a:ext uri="{FF2B5EF4-FFF2-40B4-BE49-F238E27FC236}">
                <a16:creationId xmlns:a16="http://schemas.microsoft.com/office/drawing/2014/main" id="{9E25F058-2386-A53F-EC99-1C2942CB59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10671" y="649432"/>
            <a:ext cx="5301307" cy="55275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People often hide mistakes because they are afraid of being punished.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When mistakes aren’t reported, problems don’t get fixed, and accidents can happen again.</a:t>
            </a:r>
          </a:p>
        </p:txBody>
      </p:sp>
    </p:spTree>
    <p:extLst>
      <p:ext uri="{BB962C8B-B14F-4D97-AF65-F5344CB8AC3E}">
        <p14:creationId xmlns:p14="http://schemas.microsoft.com/office/powerpoint/2010/main" val="3206446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D279CB98-976B-40EA-81C0-E41C11E7A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10FC428-98F2-41B0-859F-EC3A5A41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493DEA-A565-423D-3B37-1804F5EFE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3" y="365125"/>
            <a:ext cx="5288718" cy="2663825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600" dirty="0"/>
              <a:t>Challenge 2: Blaming People Instead of Fixing Systems</a:t>
            </a:r>
          </a:p>
        </p:txBody>
      </p:sp>
      <p:pic>
        <p:nvPicPr>
          <p:cNvPr id="62" name="Graphic 61" descr="Laptop Secure">
            <a:extLst>
              <a:ext uri="{FF2B5EF4-FFF2-40B4-BE49-F238E27FC236}">
                <a16:creationId xmlns:a16="http://schemas.microsoft.com/office/drawing/2014/main" id="{5D79B78D-20D1-141E-CF83-665682606A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6314" y="3694814"/>
            <a:ext cx="2661535" cy="2661535"/>
          </a:xfrm>
          <a:prstGeom prst="rect">
            <a:avLst/>
          </a:prstGeom>
        </p:spPr>
      </p:pic>
      <p:grpSp>
        <p:nvGrpSpPr>
          <p:cNvPr id="69" name="Group 68">
            <a:extLst>
              <a:ext uri="{FF2B5EF4-FFF2-40B4-BE49-F238E27FC236}">
                <a16:creationId xmlns:a16="http://schemas.microsoft.com/office/drawing/2014/main" id="{29B66AAD-E2D6-4E63-A491-B5CA241C5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2" y="0"/>
            <a:ext cx="6095998" cy="6858000"/>
            <a:chOff x="6096002" y="-9073"/>
            <a:chExt cx="6095998" cy="6867073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B608A2F-0FE5-4AD3-A12C-CEFA95192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0971BD8E-CD34-4B44-B62F-AE81B7FF32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Rectangle 6">
            <a:extLst>
              <a:ext uri="{FF2B5EF4-FFF2-40B4-BE49-F238E27FC236}">
                <a16:creationId xmlns:a16="http://schemas.microsoft.com/office/drawing/2014/main" id="{034D602F-DFAD-0C98-1568-5E802C2CC8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10671" y="649432"/>
            <a:ext cx="5301307" cy="55275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Many organizations focus on blaming someone rather than looking at the system.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If we only blame people, the system stays broken, mistakes can happen again.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Just culture focuses on fixing the process, not punishing people.</a:t>
            </a:r>
          </a:p>
        </p:txBody>
      </p:sp>
    </p:spTree>
    <p:extLst>
      <p:ext uri="{BB962C8B-B14F-4D97-AF65-F5344CB8AC3E}">
        <p14:creationId xmlns:p14="http://schemas.microsoft.com/office/powerpoint/2010/main" val="1164026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D279CB98-976B-40EA-81C0-E41C11E7A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10FC428-98F2-41B0-859F-EC3A5A41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8ED43A-B2E6-F4A0-C5E5-683BA0EFA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3" y="365125"/>
            <a:ext cx="5288718" cy="266382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Challenge 3: Lack of Open Communication</a:t>
            </a:r>
          </a:p>
        </p:txBody>
      </p:sp>
      <p:pic>
        <p:nvPicPr>
          <p:cNvPr id="43" name="Graphic 42" descr="Confused Person">
            <a:extLst>
              <a:ext uri="{FF2B5EF4-FFF2-40B4-BE49-F238E27FC236}">
                <a16:creationId xmlns:a16="http://schemas.microsoft.com/office/drawing/2014/main" id="{B240D3BF-DF89-E3DE-47EB-1034FC0A90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6314" y="3694814"/>
            <a:ext cx="2661535" cy="2661535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29B66AAD-E2D6-4E63-A491-B5CA241C5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2" y="0"/>
            <a:ext cx="6095998" cy="6858000"/>
            <a:chOff x="6096002" y="-9073"/>
            <a:chExt cx="6095998" cy="6867073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B608A2F-0FE5-4AD3-A12C-CEFA95192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0971BD8E-CD34-4B44-B62F-AE81B7FF32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Rectangle 4">
            <a:extLst>
              <a:ext uri="{FF2B5EF4-FFF2-40B4-BE49-F238E27FC236}">
                <a16:creationId xmlns:a16="http://schemas.microsoft.com/office/drawing/2014/main" id="{486A97C9-087C-4121-91E9-A1EBE4AE42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10671" y="649432"/>
            <a:ext cx="5301307" cy="55275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People don’t speak up if they don’t trust leadership or fear blame.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Without open talk, mistakes aren’t shared and learning doesn’t happen.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Leaders must create a safe space for employees to share problems.</a:t>
            </a:r>
          </a:p>
        </p:txBody>
      </p:sp>
    </p:spTree>
    <p:extLst>
      <p:ext uri="{BB962C8B-B14F-4D97-AF65-F5344CB8AC3E}">
        <p14:creationId xmlns:p14="http://schemas.microsoft.com/office/powerpoint/2010/main" val="2403387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D279CB98-976B-40EA-81C0-E41C11E7A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10FC428-98F2-41B0-859F-EC3A5A41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A5712B-9418-5309-C64A-6034F52DC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3" y="365125"/>
            <a:ext cx="5288718" cy="2663825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600" dirty="0"/>
              <a:t>Challenge 4: Mixed Leadership &amp; Inconsistent Processes</a:t>
            </a:r>
          </a:p>
        </p:txBody>
      </p:sp>
      <p:pic>
        <p:nvPicPr>
          <p:cNvPr id="42" name="Graphic 41" descr="Fingerprint">
            <a:extLst>
              <a:ext uri="{FF2B5EF4-FFF2-40B4-BE49-F238E27FC236}">
                <a16:creationId xmlns:a16="http://schemas.microsoft.com/office/drawing/2014/main" id="{8207637C-DF8C-07FA-0C45-F27ECFA3EC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6314" y="3694814"/>
            <a:ext cx="2661535" cy="2661535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29B66AAD-E2D6-4E63-A491-B5CA241C5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2" y="0"/>
            <a:ext cx="6095998" cy="6858000"/>
            <a:chOff x="6096002" y="-9073"/>
            <a:chExt cx="6095998" cy="6867073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B608A2F-0FE5-4AD3-A12C-CEFA95192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971BD8E-CD34-4B44-B62F-AE81B7FF32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Rectangle 2">
            <a:extLst>
              <a:ext uri="{FF2B5EF4-FFF2-40B4-BE49-F238E27FC236}">
                <a16:creationId xmlns:a16="http://schemas.microsoft.com/office/drawing/2014/main" id="{EF0D7E8B-528A-B9F3-DD9E-E3917614D1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10671" y="649432"/>
            <a:ext cx="5301307" cy="55275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Leaders may say one thing but act differently, causing confusion.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If rules are applied inconsistently, employees lose trust.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Clear and fair processes are essential for a just culture.</a:t>
            </a:r>
          </a:p>
        </p:txBody>
      </p:sp>
    </p:spTree>
    <p:extLst>
      <p:ext uri="{BB962C8B-B14F-4D97-AF65-F5344CB8AC3E}">
        <p14:creationId xmlns:p14="http://schemas.microsoft.com/office/powerpoint/2010/main" val="2654552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D279CB98-976B-40EA-81C0-E41C11E7A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10FC428-98F2-41B0-859F-EC3A5A41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A65E0D-CD46-A1A7-84EE-838C3DDC8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3" y="365125"/>
            <a:ext cx="5288718" cy="266382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Challenge 5: Lack of Training and Information</a:t>
            </a:r>
          </a:p>
        </p:txBody>
      </p:sp>
      <p:pic>
        <p:nvPicPr>
          <p:cNvPr id="32" name="Graphic 31" descr="Group Brainstorm">
            <a:extLst>
              <a:ext uri="{FF2B5EF4-FFF2-40B4-BE49-F238E27FC236}">
                <a16:creationId xmlns:a16="http://schemas.microsoft.com/office/drawing/2014/main" id="{A35B2B5B-5778-EA40-6277-E479EE5CC6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6314" y="3694814"/>
            <a:ext cx="2661535" cy="2661535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29B66AAD-E2D6-4E63-A491-B5CA241C5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2" y="0"/>
            <a:ext cx="6095998" cy="6858000"/>
            <a:chOff x="6096002" y="-9073"/>
            <a:chExt cx="6095998" cy="6867073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B608A2F-0FE5-4AD3-A12C-CEFA95192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971BD8E-CD34-4B44-B62F-AE81B7FF32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Rectangle 3">
            <a:extLst>
              <a:ext uri="{FF2B5EF4-FFF2-40B4-BE49-F238E27FC236}">
                <a16:creationId xmlns:a16="http://schemas.microsoft.com/office/drawing/2014/main" id="{919F99A9-37F2-B16D-A12E-B6F9D312BC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10671" y="649432"/>
            <a:ext cx="5301307" cy="55275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Many employees don’t fully understand what just culture means.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Without proper training, people may be unsure how to report mistakes or react.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Training and guidance are key to making it work.</a:t>
            </a:r>
          </a:p>
        </p:txBody>
      </p:sp>
    </p:spTree>
    <p:extLst>
      <p:ext uri="{BB962C8B-B14F-4D97-AF65-F5344CB8AC3E}">
        <p14:creationId xmlns:p14="http://schemas.microsoft.com/office/powerpoint/2010/main" val="254351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06B261F-632C-43DC-8DC7-7723B3682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E524C7F-EE50-42C5-9434-7C78CE044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5998" cy="68613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3A3DD1-9373-E2B2-FC07-A4BCE729B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5022630" cy="2430030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dirty="0"/>
              <a:t>Graphic Slide: Blame Culture vs. Just Culture</a:t>
            </a:r>
          </a:p>
        </p:txBody>
      </p:sp>
      <p:pic>
        <p:nvPicPr>
          <p:cNvPr id="7" name="Content Placeholder 6" descr="A person standing at a signpost&#10;&#10;AI-generated content may be incorrect.">
            <a:extLst>
              <a:ext uri="{FF2B5EF4-FFF2-40B4-BE49-F238E27FC236}">
                <a16:creationId xmlns:a16="http://schemas.microsoft.com/office/drawing/2014/main" id="{809D7566-AAE5-A8DC-2712-15A9C96335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244" y="3429000"/>
            <a:ext cx="2555246" cy="2555246"/>
          </a:xfrm>
        </p:spPr>
      </p:pic>
      <p:graphicFrame>
        <p:nvGraphicFramePr>
          <p:cNvPr id="14" name="Content Placeholder 3">
            <a:extLst>
              <a:ext uri="{FF2B5EF4-FFF2-40B4-BE49-F238E27FC236}">
                <a16:creationId xmlns:a16="http://schemas.microsoft.com/office/drawing/2014/main" id="{38787D5B-F421-9B03-0CF5-8BD332907F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6927802"/>
              </p:ext>
            </p:extLst>
          </p:nvPr>
        </p:nvGraphicFramePr>
        <p:xfrm>
          <a:off x="6580550" y="1761660"/>
          <a:ext cx="5126899" cy="3507943"/>
        </p:xfrm>
        <a:graphic>
          <a:graphicData uri="http://schemas.openxmlformats.org/drawingml/2006/table">
            <a:tbl>
              <a:tblPr>
                <a:solidFill>
                  <a:srgbClr val="F2F2F2">
                    <a:alpha val="30196"/>
                  </a:srgbClr>
                </a:solidFill>
              </a:tblPr>
              <a:tblGrid>
                <a:gridCol w="2356311">
                  <a:extLst>
                    <a:ext uri="{9D8B030D-6E8A-4147-A177-3AD203B41FA5}">
                      <a16:colId xmlns:a16="http://schemas.microsoft.com/office/drawing/2014/main" val="788892917"/>
                    </a:ext>
                  </a:extLst>
                </a:gridCol>
                <a:gridCol w="2770588">
                  <a:extLst>
                    <a:ext uri="{9D8B030D-6E8A-4147-A177-3AD203B41FA5}">
                      <a16:colId xmlns:a16="http://schemas.microsoft.com/office/drawing/2014/main" val="1911553743"/>
                    </a:ext>
                  </a:extLst>
                </a:gridCol>
              </a:tblGrid>
              <a:tr h="5861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cap="none" spc="0" dirty="0">
                          <a:solidFill>
                            <a:schemeClr val="tx1"/>
                          </a:solidFill>
                        </a:rPr>
                        <a:t>Blame Culture</a:t>
                      </a:r>
                    </a:p>
                  </a:txBody>
                  <a:tcPr marL="166461" marR="128046" marT="128046" marB="128046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cap="none" spc="0" dirty="0">
                          <a:solidFill>
                            <a:schemeClr val="tx1"/>
                          </a:solidFill>
                        </a:rPr>
                        <a:t>Just Culture</a:t>
                      </a:r>
                    </a:p>
                  </a:txBody>
                  <a:tcPr marL="166461" marR="128046" marT="128046" marB="12804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491869"/>
                  </a:ext>
                </a:extLst>
              </a:tr>
              <a:tr h="5861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Who messed up?</a:t>
                      </a:r>
                    </a:p>
                  </a:txBody>
                  <a:tcPr marL="166461" marR="128046" marT="128046" marB="128046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rgbClr val="00B050"/>
                          </a:solidFill>
                        </a:rPr>
                        <a:t>What went wrong?</a:t>
                      </a:r>
                    </a:p>
                  </a:txBody>
                  <a:tcPr marL="166461" marR="128046" marT="128046" marB="12804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8059780"/>
                  </a:ext>
                </a:extLst>
              </a:tr>
              <a:tr h="883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Fear and punishment</a:t>
                      </a:r>
                      <a:endParaRPr lang="en-US" sz="2000" cap="none" spc="0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 marL="166461" marR="128046" marT="128046" marB="128046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rgbClr val="00B050"/>
                          </a:solidFill>
                        </a:rPr>
                        <a:t>Trust and learning</a:t>
                      </a:r>
                    </a:p>
                  </a:txBody>
                  <a:tcPr marL="166461" marR="128046" marT="128046" marB="12804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914447"/>
                  </a:ext>
                </a:extLst>
              </a:tr>
              <a:tr h="5861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Hiding mistakes</a:t>
                      </a:r>
                    </a:p>
                  </a:txBody>
                  <a:tcPr marL="166461" marR="128046" marT="128046" marB="128046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rgbClr val="00B050"/>
                          </a:solidFill>
                        </a:rPr>
                        <a:t>Open communication</a:t>
                      </a:r>
                    </a:p>
                  </a:txBody>
                  <a:tcPr marL="166461" marR="128046" marT="128046" marB="12804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207998"/>
                  </a:ext>
                </a:extLst>
              </a:tr>
              <a:tr h="5861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Blame individuals</a:t>
                      </a:r>
                    </a:p>
                  </a:txBody>
                  <a:tcPr marL="166461" marR="128046" marT="128046" marB="128046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rgbClr val="00B050"/>
                          </a:solidFill>
                        </a:rPr>
                        <a:t>Fix the system</a:t>
                      </a:r>
                    </a:p>
                  </a:txBody>
                  <a:tcPr marL="166461" marR="128046" marT="128046" marB="12804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4034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1631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279CB98-976B-40EA-81C0-E41C11E7A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0FC428-98F2-41B0-859F-EC3A5A41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3F1D2B-ED36-9E65-1C05-BC78A0D48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3" y="365125"/>
            <a:ext cx="5288718" cy="266382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Challenge 6: Resistance to Change</a:t>
            </a:r>
          </a:p>
        </p:txBody>
      </p:sp>
      <p:pic>
        <p:nvPicPr>
          <p:cNvPr id="8" name="Graphic 7" descr="Beginning">
            <a:extLst>
              <a:ext uri="{FF2B5EF4-FFF2-40B4-BE49-F238E27FC236}">
                <a16:creationId xmlns:a16="http://schemas.microsoft.com/office/drawing/2014/main" id="{2AF07FE7-8635-3E49-CDBC-4C56D82690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6314" y="3694814"/>
            <a:ext cx="2661535" cy="2661535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29B66AAD-E2D6-4E63-A491-B5CA241C5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2" y="0"/>
            <a:ext cx="6095998" cy="6858000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B608A2F-0FE5-4AD3-A12C-CEFA95192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971BD8E-CD34-4B44-B62F-AE81B7FF32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C9884664-33D1-D6D2-57EB-87CF25AEDF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10671" y="649432"/>
            <a:ext cx="5301307" cy="55275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Changing a culture takes time and patience.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People resist because they fear losing control or don’t trust the change.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Strong leadership and clear communication     help overcome resistance.</a:t>
            </a:r>
          </a:p>
        </p:txBody>
      </p:sp>
    </p:spTree>
    <p:extLst>
      <p:ext uri="{BB962C8B-B14F-4D97-AF65-F5344CB8AC3E}">
        <p14:creationId xmlns:p14="http://schemas.microsoft.com/office/powerpoint/2010/main" val="1675978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279CB98-976B-40EA-81C0-E41C11E7A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0FC428-98F2-41B0-859F-EC3A5A41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90BA41-98D7-4E43-FE79-E6804C10E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3" y="365125"/>
            <a:ext cx="5288718" cy="266382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Conclusion</a:t>
            </a:r>
          </a:p>
        </p:txBody>
      </p:sp>
      <p:pic>
        <p:nvPicPr>
          <p:cNvPr id="8" name="Graphic 7" descr="Cheers">
            <a:extLst>
              <a:ext uri="{FF2B5EF4-FFF2-40B4-BE49-F238E27FC236}">
                <a16:creationId xmlns:a16="http://schemas.microsoft.com/office/drawing/2014/main" id="{FDE7BD21-CE94-F7C8-9A4B-7F58BE2B12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6314" y="3694814"/>
            <a:ext cx="2661535" cy="2661535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29B66AAD-E2D6-4E63-A491-B5CA241C5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2" y="0"/>
            <a:ext cx="6095998" cy="6858000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B608A2F-0FE5-4AD3-A12C-CEFA95192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971BD8E-CD34-4B44-B62F-AE81B7FF32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5740E02F-7081-3F9A-A9A4-082FF8FE0A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10671" y="649432"/>
            <a:ext cx="5301307" cy="55275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 just culture helps everyone learn from mistakes and improves safety.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Barriers include: fear, blame, lack of training, inconsistent leadership, and resistance.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Overcoming these barriers requires: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Clear communication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Training and guidance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Consistent leadership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 focus on systems, not people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2056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279CB98-976B-40EA-81C0-E41C11E7A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0FC428-98F2-41B0-859F-EC3A5A41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27D45A-71EE-9A73-EF2F-99B23A4BF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3" y="365125"/>
            <a:ext cx="5288718" cy="266382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References:</a:t>
            </a:r>
          </a:p>
        </p:txBody>
      </p:sp>
      <p:pic>
        <p:nvPicPr>
          <p:cNvPr id="7" name="Graphic 6" descr="Open Book">
            <a:extLst>
              <a:ext uri="{FF2B5EF4-FFF2-40B4-BE49-F238E27FC236}">
                <a16:creationId xmlns:a16="http://schemas.microsoft.com/office/drawing/2014/main" id="{5F4C1F13-9CBE-96F8-D932-D27910817D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6314" y="3694814"/>
            <a:ext cx="2661535" cy="2661535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29B66AAD-E2D6-4E63-A491-B5CA241C5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2" y="0"/>
            <a:ext cx="6095998" cy="6858000"/>
            <a:chOff x="6096002" y="-9073"/>
            <a:chExt cx="6095998" cy="686707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B608A2F-0FE5-4AD3-A12C-CEFA95192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971BD8E-CD34-4B44-B62F-AE81B7FF32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88ED6B24-2858-B471-A03C-06C6F1EE9B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10671" y="649432"/>
            <a:ext cx="5301307" cy="55275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“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Overcoming Barriers to a Just Culture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.”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Health Quality Alberta.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2025</a:t>
            </a:r>
            <a:r>
              <a:rPr lang="en-US" altLang="en-US" dirty="0">
                <a:latin typeface="Arial" panose="020B0604020202020204" pitchFamily="34" charset="0"/>
              </a:rPr>
              <a:t>. </a:t>
            </a:r>
            <a:r>
              <a:rPr lang="en-US" altLang="en-US" dirty="0">
                <a:latin typeface="Arial" panose="020B0604020202020204" pitchFamily="34" charset="0"/>
                <a:hlinkClick r:id="rId4"/>
              </a:rPr>
              <a:t>https://justculture.hqa.ca/overcoming-barriers-to-a-just-culture/</a:t>
            </a: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Kumah, Augustine. “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Adverse event reporting and patient safety: the role of a just culture.” Frontiers. 19 Aug. 2025. </a:t>
            </a:r>
            <a:r>
              <a:rPr lang="en-US" dirty="0">
                <a:hlinkClick r:id="rId5"/>
              </a:rPr>
              <a:t>https://www.frontiersin.org/journals/health-services/articles/10.3389/frhs.2025.1581516/full</a:t>
            </a:r>
            <a:endParaRPr lang="en-US" dirty="0"/>
          </a:p>
          <a:p>
            <a:pPr lvl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499418"/>
      </p:ext>
    </p:extLst>
  </p:cSld>
  <p:clrMapOvr>
    <a:masterClrMapping/>
  </p:clrMapOvr>
</p:sld>
</file>

<file path=ppt/theme/theme1.xml><?xml version="1.0" encoding="utf-8"?>
<a:theme xmlns:a="http://schemas.openxmlformats.org/drawingml/2006/main" name="MatrixVTI">
  <a:themeElements>
    <a:clrScheme name="Custom 29">
      <a:dk1>
        <a:srgbClr val="000000"/>
      </a:dk1>
      <a:lt1>
        <a:sysClr val="window" lastClr="FFFFFF"/>
      </a:lt1>
      <a:dk2>
        <a:srgbClr val="465959"/>
      </a:dk2>
      <a:lt2>
        <a:srgbClr val="ECF0F0"/>
      </a:lt2>
      <a:accent1>
        <a:srgbClr val="1EBE9B"/>
      </a:accent1>
      <a:accent2>
        <a:srgbClr val="FD7C7C"/>
      </a:accent2>
      <a:accent3>
        <a:srgbClr val="7DA8B5"/>
      </a:accent3>
      <a:accent4>
        <a:srgbClr val="17967B"/>
      </a:accent4>
      <a:accent5>
        <a:srgbClr val="FB7365"/>
      </a:accent5>
      <a:accent6>
        <a:srgbClr val="D39B17"/>
      </a:accent6>
      <a:hlink>
        <a:srgbClr val="EF08F7"/>
      </a:hlink>
      <a:folHlink>
        <a:srgbClr val="8477FE"/>
      </a:folHlink>
    </a:clrScheme>
    <a:fontScheme name="Custom 4">
      <a:majorFont>
        <a:latin typeface="Bahnschrif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rixVTI" id="{A2576CCC-A559-4FD4-A542-772649F65A84}" vid="{5CBC41A9-80A0-44C6-90CD-6D863034352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514</Words>
  <Application>Microsoft Office PowerPoint</Application>
  <PresentationFormat>Widescreen</PresentationFormat>
  <Paragraphs>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Avenir Next LT Pro</vt:lpstr>
      <vt:lpstr>Bahnschrift</vt:lpstr>
      <vt:lpstr>MatrixVTI</vt:lpstr>
      <vt:lpstr>Building a Just, Learning Culture Barriers and Challenges</vt:lpstr>
      <vt:lpstr>What Is a Just Culture?</vt:lpstr>
      <vt:lpstr>Challenge 1: Fear of Blame</vt:lpstr>
      <vt:lpstr>Challenge 2: Blaming People Instead of Fixing Systems</vt:lpstr>
      <vt:lpstr>Challenge 3: Lack of Open Communication</vt:lpstr>
      <vt:lpstr>Challenge 4: Mixed Leadership &amp; Inconsistent Processes</vt:lpstr>
      <vt:lpstr>Challenge 5: Lack of Training and Information</vt:lpstr>
      <vt:lpstr>Graphic Slide: Blame Culture vs. Just Culture</vt:lpstr>
      <vt:lpstr>Challenge 6: Resistance to Change</vt:lpstr>
      <vt:lpstr>Conclusion</vt:lpstr>
      <vt:lpstr>References: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Flores</dc:creator>
  <cp:lastModifiedBy>Jose Flores</cp:lastModifiedBy>
  <cp:revision>1</cp:revision>
  <dcterms:created xsi:type="dcterms:W3CDTF">2025-12-03T10:33:26Z</dcterms:created>
  <dcterms:modified xsi:type="dcterms:W3CDTF">2025-12-03T12:54:39Z</dcterms:modified>
</cp:coreProperties>
</file>